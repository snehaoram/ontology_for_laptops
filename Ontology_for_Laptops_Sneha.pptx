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erriweather Medium"/>
      <p:regular r:id="rId25"/>
      <p:bold r:id="rId26"/>
      <p:italic r:id="rId27"/>
      <p:boldItalic r:id="rId28"/>
    </p:embeddedFont>
    <p:embeddedFont>
      <p:font typeface="Work Sans"/>
      <p:regular r:id="rId29"/>
      <p:bold r:id="rId30"/>
      <p:italic r:id="rId31"/>
      <p:boldItalic r:id="rId32"/>
    </p:embeddedFont>
    <p:embeddedFont>
      <p:font typeface="Comfortaa Medium"/>
      <p:regular r:id="rId33"/>
      <p:bold r:id="rId34"/>
    </p:embeddedFont>
    <p:embeddedFont>
      <p:font typeface="Comforta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Medium-bold.fntdata"/><Relationship Id="rId25" Type="http://schemas.openxmlformats.org/officeDocument/2006/relationships/font" Target="fonts/MerriweatherMedium-regular.fntdata"/><Relationship Id="rId28" Type="http://schemas.openxmlformats.org/officeDocument/2006/relationships/font" Target="fonts/MerriweatherMedium-boldItalic.fntdata"/><Relationship Id="rId27" Type="http://schemas.openxmlformats.org/officeDocument/2006/relationships/font" Target="fonts/Merriweather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Work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WorkSans-italic.fntdata"/><Relationship Id="rId30" Type="http://schemas.openxmlformats.org/officeDocument/2006/relationships/font" Target="fonts/WorkSans-bold.fntdata"/><Relationship Id="rId11" Type="http://schemas.openxmlformats.org/officeDocument/2006/relationships/slide" Target="slides/slide6.xml"/><Relationship Id="rId33" Type="http://schemas.openxmlformats.org/officeDocument/2006/relationships/font" Target="fonts/ComfortaaMedium-regular.fntdata"/><Relationship Id="rId10" Type="http://schemas.openxmlformats.org/officeDocument/2006/relationships/slide" Target="slides/slide5.xml"/><Relationship Id="rId32" Type="http://schemas.openxmlformats.org/officeDocument/2006/relationships/font" Target="fonts/WorkSans-boldItalic.fntdata"/><Relationship Id="rId13" Type="http://schemas.openxmlformats.org/officeDocument/2006/relationships/slide" Target="slides/slide8.xml"/><Relationship Id="rId35" Type="http://schemas.openxmlformats.org/officeDocument/2006/relationships/font" Target="fonts/Comfortaa-regular.fntdata"/><Relationship Id="rId12" Type="http://schemas.openxmlformats.org/officeDocument/2006/relationships/slide" Target="slides/slide7.xml"/><Relationship Id="rId34" Type="http://schemas.openxmlformats.org/officeDocument/2006/relationships/font" Target="fonts/ComfortaaMedium-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Comforta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3cedd1858e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3cedd1858e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304e5fe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3304e5fe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7c77e7b1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7c77e7b1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7c77e7b1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7c77e7b1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7c77e7b1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7c77e7b1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7c77e7b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7c77e7b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7c77e7b1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7c77e7b1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7c77e7b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7c77e7b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7c77e7b1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7c77e7b1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7c77e7b1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7c77e7b1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7c77e7b1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7c77e7b1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7c77e7b1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7c77e7b1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304e5fe4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3304e5fe4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7c77e7b1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7c77e7b1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7c77e7b1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7c77e7b1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0706a2f7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0706a2f7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7c77e7b1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7c77e7b1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7c77e7b1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7c77e7b1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3304e5fe4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3304e5fe4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SzPts val="2400"/>
              <a:buChar char="●"/>
              <a:defRPr/>
            </a:lvl1pPr>
            <a:lvl2pPr indent="-381000" lvl="1" marL="914400" algn="l">
              <a:lnSpc>
                <a:spcPct val="100000"/>
              </a:lnSpc>
              <a:spcBef>
                <a:spcPts val="480"/>
              </a:spcBef>
              <a:spcAft>
                <a:spcPts val="0"/>
              </a:spcAft>
              <a:buSzPts val="2400"/>
              <a:buChar char="○"/>
              <a:defRPr/>
            </a:lvl2pPr>
            <a:lvl3pPr indent="-381000" lvl="2" marL="1371600" algn="l">
              <a:lnSpc>
                <a:spcPct val="100000"/>
              </a:lnSpc>
              <a:spcBef>
                <a:spcPts val="480"/>
              </a:spcBef>
              <a:spcAft>
                <a:spcPts val="0"/>
              </a:spcAft>
              <a:buSzPts val="2400"/>
              <a:buChar char="■"/>
              <a:defRPr/>
            </a:lvl3pPr>
            <a:lvl4pPr indent="-381000" lvl="3" marL="1828800" algn="l">
              <a:lnSpc>
                <a:spcPct val="100000"/>
              </a:lnSpc>
              <a:spcBef>
                <a:spcPts val="480"/>
              </a:spcBef>
              <a:spcAft>
                <a:spcPts val="0"/>
              </a:spcAft>
              <a:buSzPts val="2400"/>
              <a:buChar char="●"/>
              <a:defRPr/>
            </a:lvl4pPr>
            <a:lvl5pPr indent="-381000" lvl="4" marL="2286000" algn="l">
              <a:lnSpc>
                <a:spcPct val="100000"/>
              </a:lnSpc>
              <a:spcBef>
                <a:spcPts val="480"/>
              </a:spcBef>
              <a:spcAft>
                <a:spcPts val="0"/>
              </a:spcAft>
              <a:buSzPts val="2400"/>
              <a:buChar char="○"/>
              <a:defRPr/>
            </a:lvl5pPr>
            <a:lvl6pPr indent="-381000" lvl="5" marL="2743200" algn="l">
              <a:lnSpc>
                <a:spcPct val="100000"/>
              </a:lnSpc>
              <a:spcBef>
                <a:spcPts val="480"/>
              </a:spcBef>
              <a:spcAft>
                <a:spcPts val="0"/>
              </a:spcAft>
              <a:buSzPts val="2400"/>
              <a:buChar char="■"/>
              <a:defRPr/>
            </a:lvl6pPr>
            <a:lvl7pPr indent="-381000" lvl="6" marL="3200400" algn="l">
              <a:lnSpc>
                <a:spcPct val="100000"/>
              </a:lnSpc>
              <a:spcBef>
                <a:spcPts val="480"/>
              </a:spcBef>
              <a:spcAft>
                <a:spcPts val="0"/>
              </a:spcAft>
              <a:buSzPts val="2400"/>
              <a:buChar char="●"/>
              <a:defRPr/>
            </a:lvl7pPr>
            <a:lvl8pPr indent="-381000" lvl="7" marL="3657600" algn="l">
              <a:lnSpc>
                <a:spcPct val="100000"/>
              </a:lnSpc>
              <a:spcBef>
                <a:spcPts val="480"/>
              </a:spcBef>
              <a:spcAft>
                <a:spcPts val="0"/>
              </a:spcAft>
              <a:buSzPts val="2400"/>
              <a:buChar char="○"/>
              <a:defRPr/>
            </a:lvl8pPr>
            <a:lvl9pPr indent="-381000" lvl="8" marL="4114800" algn="l">
              <a:lnSpc>
                <a:spcPct val="100000"/>
              </a:lnSpc>
              <a:spcBef>
                <a:spcPts val="480"/>
              </a:spcBef>
              <a:spcAft>
                <a:spcPts val="0"/>
              </a:spcAft>
              <a:buSzPts val="2400"/>
              <a:buChar char="■"/>
              <a:defRPr/>
            </a:lvl9pPr>
          </a:lstStyle>
          <a:p/>
        </p:txBody>
      </p:sp>
      <p:sp>
        <p:nvSpPr>
          <p:cNvPr id="53" name="Google Shape;53;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57" name="Shape 57"/>
        <p:cNvGrpSpPr/>
        <p:nvPr/>
      </p:nvGrpSpPr>
      <p:grpSpPr>
        <a:xfrm>
          <a:off x="0" y="0"/>
          <a:ext cx="0" cy="0"/>
          <a:chOff x="0" y="0"/>
          <a:chExt cx="0" cy="0"/>
        </a:xfrm>
      </p:grpSpPr>
      <p:sp>
        <p:nvSpPr>
          <p:cNvPr id="58" name="Google Shape;58;p14"/>
          <p:cNvSpPr txBox="1"/>
          <p:nvPr/>
        </p:nvSpPr>
        <p:spPr>
          <a:xfrm>
            <a:off x="370550" y="670500"/>
            <a:ext cx="8363700" cy="3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chemeClr val="dk1"/>
                </a:solidFill>
                <a:latin typeface="Merriweather Medium"/>
                <a:ea typeface="Merriweather Medium"/>
                <a:cs typeface="Merriweather Medium"/>
                <a:sym typeface="Merriweather Medium"/>
              </a:rPr>
              <a:t>Ontology for Laptops </a:t>
            </a:r>
            <a:endParaRPr sz="3500">
              <a:solidFill>
                <a:schemeClr val="dk1"/>
              </a:solidFill>
              <a:latin typeface="Merriweather Medium"/>
              <a:ea typeface="Merriweather Medium"/>
              <a:cs typeface="Merriweather Medium"/>
              <a:sym typeface="Merriweather Medium"/>
            </a:endParaRPr>
          </a:p>
          <a:p>
            <a:pPr indent="0" lvl="0" marL="0" rtl="0" algn="l">
              <a:spcBef>
                <a:spcPts val="1000"/>
              </a:spcBef>
              <a:spcAft>
                <a:spcPts val="0"/>
              </a:spcAft>
              <a:buNone/>
            </a:pPr>
            <a:r>
              <a:rPr lang="en" sz="2400">
                <a:solidFill>
                  <a:schemeClr val="dk1"/>
                </a:solidFill>
                <a:latin typeface="Merriweather Medium"/>
                <a:ea typeface="Merriweather Medium"/>
                <a:cs typeface="Merriweather Medium"/>
                <a:sym typeface="Merriweather Medium"/>
              </a:rPr>
              <a:t>(with Reasoner and DL querier)</a:t>
            </a:r>
            <a:endParaRPr sz="2400">
              <a:solidFill>
                <a:schemeClr val="dk1"/>
              </a:solidFill>
              <a:latin typeface="Merriweather Medium"/>
              <a:ea typeface="Merriweather Medium"/>
              <a:cs typeface="Merriweather Medium"/>
              <a:sym typeface="Merriweather Medium"/>
            </a:endParaRPr>
          </a:p>
          <a:p>
            <a:pPr indent="0" lvl="0" marL="0" rtl="0" algn="l">
              <a:spcBef>
                <a:spcPts val="1000"/>
              </a:spcBef>
              <a:spcAft>
                <a:spcPts val="0"/>
              </a:spcAft>
              <a:buNone/>
            </a:pPr>
            <a:r>
              <a:t/>
            </a:r>
            <a:endParaRPr sz="3400">
              <a:solidFill>
                <a:schemeClr val="dk1"/>
              </a:solidFill>
              <a:latin typeface="Work Sans"/>
              <a:ea typeface="Work Sans"/>
              <a:cs typeface="Work Sans"/>
              <a:sym typeface="Work Sans"/>
            </a:endParaRPr>
          </a:p>
          <a:p>
            <a:pPr indent="0" lvl="0" marL="0" rtl="0" algn="l">
              <a:spcBef>
                <a:spcPts val="1000"/>
              </a:spcBef>
              <a:spcAft>
                <a:spcPts val="0"/>
              </a:spcAft>
              <a:buNone/>
            </a:pPr>
            <a:r>
              <a:t/>
            </a:r>
            <a:endParaRPr sz="3400">
              <a:solidFill>
                <a:schemeClr val="dk1"/>
              </a:solidFill>
              <a:latin typeface="Work Sans"/>
              <a:ea typeface="Work Sans"/>
              <a:cs typeface="Work Sans"/>
              <a:sym typeface="Work Sans"/>
            </a:endParaRPr>
          </a:p>
          <a:p>
            <a:pPr indent="0" lvl="0" marL="0" rtl="0" algn="l">
              <a:spcBef>
                <a:spcPts val="1000"/>
              </a:spcBef>
              <a:spcAft>
                <a:spcPts val="0"/>
              </a:spcAft>
              <a:buNone/>
            </a:pPr>
            <a:r>
              <a:rPr lang="en" sz="3400">
                <a:solidFill>
                  <a:schemeClr val="dk1"/>
                </a:solidFill>
                <a:latin typeface="Work Sans"/>
                <a:ea typeface="Work Sans"/>
                <a:cs typeface="Work Sans"/>
                <a:sym typeface="Work Sans"/>
              </a:rPr>
              <a:t>Sneha Oram, IIT Bombay</a:t>
            </a:r>
            <a:endParaRPr sz="3400">
              <a:solidFill>
                <a:schemeClr val="dk1"/>
              </a:solidFill>
              <a:latin typeface="Work Sans"/>
              <a:ea typeface="Work Sans"/>
              <a:cs typeface="Work Sans"/>
              <a:sym typeface="Work Sans"/>
            </a:endParaRPr>
          </a:p>
          <a:p>
            <a:pPr indent="0" lvl="0" marL="0" rtl="0" algn="l">
              <a:spcBef>
                <a:spcPts val="1000"/>
              </a:spcBef>
              <a:spcAft>
                <a:spcPts val="0"/>
              </a:spcAft>
              <a:buNone/>
            </a:pPr>
            <a:r>
              <a:rPr lang="en" sz="2100">
                <a:solidFill>
                  <a:schemeClr val="dk1"/>
                </a:solidFill>
                <a:latin typeface="Work Sans"/>
                <a:ea typeface="Work Sans"/>
                <a:cs typeface="Work Sans"/>
                <a:sym typeface="Work Sans"/>
              </a:rPr>
              <a:t>08</a:t>
            </a:r>
            <a:r>
              <a:rPr baseline="30000" lang="en" sz="2100">
                <a:solidFill>
                  <a:schemeClr val="dk1"/>
                </a:solidFill>
                <a:latin typeface="Work Sans"/>
                <a:ea typeface="Work Sans"/>
                <a:cs typeface="Work Sans"/>
                <a:sym typeface="Work Sans"/>
              </a:rPr>
              <a:t>th</a:t>
            </a:r>
            <a:r>
              <a:rPr lang="en" sz="2100">
                <a:solidFill>
                  <a:schemeClr val="dk1"/>
                </a:solidFill>
                <a:latin typeface="Work Sans"/>
                <a:ea typeface="Work Sans"/>
                <a:cs typeface="Work Sans"/>
                <a:sym typeface="Work Sans"/>
              </a:rPr>
              <a:t> May 2026</a:t>
            </a:r>
            <a:endParaRPr sz="2100">
              <a:solidFill>
                <a:schemeClr val="dk1"/>
              </a:solidFill>
              <a:latin typeface="Work Sans"/>
              <a:ea typeface="Work Sans"/>
              <a:cs typeface="Work Sans"/>
              <a:sym typeface="Work Sans"/>
            </a:endParaRPr>
          </a:p>
          <a:p>
            <a:pPr indent="0" lvl="0" marL="0" rtl="0" algn="l">
              <a:spcBef>
                <a:spcPts val="1000"/>
              </a:spcBef>
              <a:spcAft>
                <a:spcPts val="1000"/>
              </a:spcAft>
              <a:buNone/>
            </a:pPr>
            <a:r>
              <a:t/>
            </a:r>
            <a:endParaRPr sz="3400">
              <a:solidFill>
                <a:schemeClr val="dk1"/>
              </a:solidFill>
              <a:latin typeface="Work Sans"/>
              <a:ea typeface="Work Sans"/>
              <a:cs typeface="Work Sans"/>
              <a:sym typeface="Work Sans"/>
            </a:endParaRPr>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nvSpPr>
        <p:spPr>
          <a:xfrm>
            <a:off x="349400" y="1996725"/>
            <a:ext cx="8363700" cy="2936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To create ontology for a product (laptop) and integrate a Reasoner to check the consistency of the ontology. </a:t>
            </a:r>
            <a:r>
              <a:rPr lang="en" sz="1300">
                <a:solidFill>
                  <a:schemeClr val="dk1"/>
                </a:solidFill>
                <a:latin typeface="Comfortaa Medium"/>
                <a:ea typeface="Comfortaa Medium"/>
                <a:cs typeface="Comfortaa Medium"/>
                <a:sym typeface="Comfortaa Medium"/>
              </a:rPr>
              <a:t>Subsequently,</a:t>
            </a:r>
            <a:r>
              <a:rPr lang="en" sz="1300">
                <a:solidFill>
                  <a:schemeClr val="dk1"/>
                </a:solidFill>
                <a:latin typeface="Comfortaa Medium"/>
                <a:ea typeface="Comfortaa Medium"/>
                <a:cs typeface="Comfortaa Medium"/>
                <a:sym typeface="Comfortaa Medium"/>
              </a:rPr>
              <a:t> use of DL queries for </a:t>
            </a:r>
            <a:r>
              <a:rPr lang="en" sz="1300">
                <a:solidFill>
                  <a:schemeClr val="dk1"/>
                </a:solidFill>
                <a:latin typeface="Comfortaa Medium"/>
                <a:ea typeface="Comfortaa Medium"/>
                <a:cs typeface="Comfortaa Medium"/>
                <a:sym typeface="Comfortaa Medium"/>
              </a:rPr>
              <a:t>inferencing.</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65" name="Google Shape;65;p15"/>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Problem Statement</a:t>
            </a:r>
            <a:endParaRPr b="1" sz="2900">
              <a:solidFill>
                <a:schemeClr val="dk2"/>
              </a:solidFill>
              <a:latin typeface="Comfortaa"/>
              <a:ea typeface="Comfortaa"/>
              <a:cs typeface="Comfortaa"/>
              <a:sym typeface="Comfortaa"/>
            </a:endParaRPr>
          </a:p>
        </p:txBody>
      </p:sp>
      <p:sp>
        <p:nvSpPr>
          <p:cNvPr id="66" name="Google Shape;66;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nvSpPr>
        <p:spPr>
          <a:xfrm>
            <a:off x="349400" y="1992700"/>
            <a:ext cx="8363700" cy="2670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The idea is to create a </a:t>
            </a:r>
            <a:r>
              <a:rPr lang="en" sz="1300">
                <a:solidFill>
                  <a:schemeClr val="dk1"/>
                </a:solidFill>
                <a:latin typeface="Comfortaa Medium"/>
                <a:ea typeface="Comfortaa Medium"/>
                <a:cs typeface="Comfortaa Medium"/>
                <a:sym typeface="Comfortaa Medium"/>
              </a:rPr>
              <a:t>hierarchy</a:t>
            </a:r>
            <a:r>
              <a:rPr lang="en" sz="1300">
                <a:solidFill>
                  <a:schemeClr val="dk1"/>
                </a:solidFill>
                <a:latin typeface="Comfortaa Medium"/>
                <a:ea typeface="Comfortaa Medium"/>
                <a:cs typeface="Comfortaa Medium"/>
                <a:sym typeface="Comfortaa Medium"/>
              </a:rPr>
              <a:t> of classes for specifications of laptops such as display (screen), memory (RAM), operating system (OS), processor (CPU), storage (hard drive/SSD).</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72" name="Google Shape;72;p16"/>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Ontology design</a:t>
            </a:r>
            <a:endParaRPr b="1" sz="2900">
              <a:solidFill>
                <a:schemeClr val="dk2"/>
              </a:solidFill>
              <a:latin typeface="Comfortaa"/>
              <a:ea typeface="Comfortaa"/>
              <a:cs typeface="Comfortaa"/>
              <a:sym typeface="Comfortaa"/>
            </a:endParaRPr>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349400" y="1419550"/>
            <a:ext cx="8363700" cy="3513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Platforms: Desktop Protégé (Version: 5.6.9) / Web Protégé (by (BMIR) at Stanford University)</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Desktop Protégé </a:t>
            </a:r>
            <a:r>
              <a:rPr lang="en" sz="1300">
                <a:solidFill>
                  <a:schemeClr val="dk1"/>
                </a:solidFill>
                <a:latin typeface="Comfortaa Medium"/>
                <a:ea typeface="Comfortaa Medium"/>
                <a:cs typeface="Comfortaa Medium"/>
                <a:sym typeface="Comfortaa Medium"/>
              </a:rPr>
              <a:t>Plugins: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DL Query (Version: 4.0.1)</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HermiT Reasoner (</a:t>
            </a:r>
            <a:r>
              <a:rPr lang="en" sz="1300">
                <a:solidFill>
                  <a:schemeClr val="dk1"/>
                </a:solidFill>
                <a:latin typeface="Comfortaa Medium"/>
                <a:ea typeface="Comfortaa Medium"/>
                <a:cs typeface="Comfortaa Medium"/>
                <a:sym typeface="Comfortaa Medium"/>
              </a:rPr>
              <a:t>Version: 1.4.3</a:t>
            </a:r>
            <a:r>
              <a:rPr lang="en" sz="1300">
                <a:solidFill>
                  <a:schemeClr val="dk1"/>
                </a:solidFill>
                <a:latin typeface="Comfortaa Medium"/>
                <a:ea typeface="Comfortaa Medium"/>
                <a:cs typeface="Comfortaa Medium"/>
                <a:sym typeface="Comfortaa Medium"/>
              </a:rPr>
              <a:t>)</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79" name="Google Shape;79;p17"/>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Experiment </a:t>
            </a:r>
            <a:r>
              <a:rPr b="1" lang="en" sz="2900">
                <a:solidFill>
                  <a:schemeClr val="dk2"/>
                </a:solidFill>
                <a:latin typeface="Comfortaa"/>
                <a:ea typeface="Comfortaa"/>
                <a:cs typeface="Comfortaa"/>
                <a:sym typeface="Comfortaa"/>
              </a:rPr>
              <a:t>setup</a:t>
            </a:r>
            <a:endParaRPr b="1" sz="2900">
              <a:solidFill>
                <a:schemeClr val="dk2"/>
              </a:solidFill>
              <a:latin typeface="Comfortaa"/>
              <a:ea typeface="Comfortaa"/>
              <a:cs typeface="Comfortaa"/>
              <a:sym typeface="Comfortaa"/>
            </a:endParaRPr>
          </a:p>
        </p:txBody>
      </p:sp>
      <p:sp>
        <p:nvSpPr>
          <p:cNvPr id="80" name="Google Shape;8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349400" y="979100"/>
            <a:ext cx="8363700" cy="3684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 </a:t>
            </a:r>
            <a:r>
              <a:rPr lang="en" sz="1300">
                <a:solidFill>
                  <a:schemeClr val="dk1"/>
                </a:solidFill>
                <a:latin typeface="Comfortaa Medium"/>
                <a:ea typeface="Comfortaa Medium"/>
                <a:cs typeface="Comfortaa Medium"/>
                <a:sym typeface="Comfortaa Medium"/>
              </a:rPr>
              <a:t>IRI (Internationalized Resource Identifier): A unique identifier used to represent ontology elements (ontology and entities) on the web.</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 Active ontology: The ontology currently loaded and being edited or analyzed.</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 Entities: The main components used to define knowledge in an ontology.</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Class: Represents a category or group of similar objects or concepts.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Object Properties: Define relationships between two individuals or entities.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Data Properties: Define relationships between individuals and data values.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Individuals: Specific instances or examples of a class.</a:t>
            </a:r>
            <a:endParaRPr sz="1300">
              <a:solidFill>
                <a:schemeClr val="dk1"/>
              </a:solidFill>
              <a:latin typeface="Comfortaa Medium"/>
              <a:ea typeface="Comfortaa Medium"/>
              <a:cs typeface="Comfortaa Medium"/>
              <a:sym typeface="Comfortaa Medium"/>
            </a:endParaRPr>
          </a:p>
        </p:txBody>
      </p:sp>
      <p:sp>
        <p:nvSpPr>
          <p:cNvPr id="86" name="Google Shape;86;p18"/>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Terminologies in Ontology</a:t>
            </a:r>
            <a:endParaRPr b="1" sz="2900">
              <a:solidFill>
                <a:schemeClr val="dk2"/>
              </a:solidFill>
              <a:latin typeface="Comfortaa"/>
              <a:ea typeface="Comfortaa"/>
              <a:cs typeface="Comfortaa"/>
              <a:sym typeface="Comfortaa"/>
            </a:endParaRPr>
          </a:p>
        </p:txBody>
      </p:sp>
      <p:sp>
        <p:nvSpPr>
          <p:cNvPr id="87" name="Google Shape;8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349400" y="1250700"/>
            <a:ext cx="8363700" cy="3682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Following classes are created for developing ontology for laptops. The class </a:t>
            </a:r>
            <a:r>
              <a:rPr lang="en" sz="1300">
                <a:solidFill>
                  <a:schemeClr val="dk1"/>
                </a:solidFill>
                <a:latin typeface="Comfortaa Medium"/>
                <a:ea typeface="Comfortaa Medium"/>
                <a:cs typeface="Comfortaa Medium"/>
                <a:sym typeface="Comfortaa Medium"/>
              </a:rPr>
              <a:t>hierarchy</a:t>
            </a:r>
            <a:r>
              <a:rPr lang="en" sz="1300">
                <a:solidFill>
                  <a:schemeClr val="dk1"/>
                </a:solidFill>
                <a:latin typeface="Comfortaa Medium"/>
                <a:ea typeface="Comfortaa Medium"/>
                <a:cs typeface="Comfortaa Medium"/>
                <a:sym typeface="Comfortaa Medium"/>
              </a:rPr>
              <a:t> is presented on the right.</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Device</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Computers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Laptops</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All classes are subclass of owl:Thing  (superclass of all classes)</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93" name="Google Shape;93;p19"/>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Classes</a:t>
            </a:r>
            <a:endParaRPr b="1" sz="2900">
              <a:solidFill>
                <a:schemeClr val="dk2"/>
              </a:solidFill>
              <a:latin typeface="Comfortaa"/>
              <a:ea typeface="Comfortaa"/>
              <a:cs typeface="Comfortaa"/>
              <a:sym typeface="Comfortaa"/>
            </a:endParaRPr>
          </a:p>
        </p:txBody>
      </p:sp>
      <p:sp>
        <p:nvSpPr>
          <p:cNvPr id="94" name="Google Shape;9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9"/>
          <p:cNvSpPr txBox="1"/>
          <p:nvPr/>
        </p:nvSpPr>
        <p:spPr>
          <a:xfrm>
            <a:off x="4320225" y="1791225"/>
            <a:ext cx="4034700" cy="22545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Components</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Processor (CPU)</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Memory (RAM)</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Storage (Hard Drive/SSD)</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Display (Screen)</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OperatingSystem (OS)</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390150" y="1078175"/>
            <a:ext cx="8363700" cy="3682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This links the Laptops to their components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Component </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hasComponent </a:t>
            </a:r>
            <a:r>
              <a:rPr lang="en" sz="1300">
                <a:solidFill>
                  <a:schemeClr val="dk1"/>
                </a:solidFill>
                <a:latin typeface="Comfortaa Medium"/>
                <a:ea typeface="Comfortaa Medium"/>
                <a:cs typeface="Comfortaa Medium"/>
                <a:sym typeface="Comfortaa Medium"/>
              </a:rPr>
              <a:t>(Domain: Device, Range: Component)</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hasDisplay </a:t>
            </a:r>
            <a:r>
              <a:rPr lang="en" sz="1300">
                <a:solidFill>
                  <a:schemeClr val="dk1"/>
                </a:solidFill>
                <a:latin typeface="Comfortaa Medium"/>
                <a:ea typeface="Comfortaa Medium"/>
                <a:cs typeface="Comfortaa Medium"/>
                <a:sym typeface="Comfortaa Medium"/>
              </a:rPr>
              <a:t>(Sub-property of hasComponent)</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hasMemory</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hasOS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hasProcessor</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hasStorage</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All object properties are subclass of the owl:topObjectProperty</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101" name="Google Shape;101;p20"/>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Object Properties (Relationships)</a:t>
            </a:r>
            <a:endParaRPr b="1" sz="2900">
              <a:solidFill>
                <a:schemeClr val="dk2"/>
              </a:solidFill>
              <a:latin typeface="Comfortaa"/>
              <a:ea typeface="Comfortaa"/>
              <a:cs typeface="Comfortaa"/>
              <a:sym typeface="Comfortaa"/>
            </a:endParaRPr>
          </a:p>
        </p:txBody>
      </p:sp>
      <p:sp>
        <p:nvSpPr>
          <p:cNvPr id="102" name="Google Shape;10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nvSpPr>
        <p:spPr>
          <a:xfrm>
            <a:off x="349400" y="1250700"/>
            <a:ext cx="8363700" cy="3682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These hold the literal values (numbers, strings) for the specifications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modelName (Range: string)</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osName (Range: string)</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processorName (Range: string)</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ramSizeGB (Range: integer)</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storageCapacityGB (Range: integer)</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screenSizeInches (Range: float/decimal)</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rPr lang="en" sz="1300">
                <a:solidFill>
                  <a:schemeClr val="dk1"/>
                </a:solidFill>
                <a:latin typeface="Comfortaa Medium"/>
                <a:ea typeface="Comfortaa Medium"/>
                <a:cs typeface="Comfortaa Medium"/>
                <a:sym typeface="Comfortaa Medium"/>
              </a:rPr>
              <a:t>All data properties are subclass of the owl:topDataProperty</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108" name="Google Shape;108;p21"/>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Data Properties (Attributes)</a:t>
            </a:r>
            <a:endParaRPr b="1" sz="2900">
              <a:solidFill>
                <a:schemeClr val="dk2"/>
              </a:solidFill>
              <a:latin typeface="Comfortaa"/>
              <a:ea typeface="Comfortaa"/>
              <a:cs typeface="Comfortaa"/>
              <a:sym typeface="Comfortaa"/>
            </a:endParaRPr>
          </a:p>
        </p:txBody>
      </p:sp>
      <p:sp>
        <p:nvSpPr>
          <p:cNvPr id="109" name="Google Shape;109;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nvSpPr>
        <p:spPr>
          <a:xfrm>
            <a:off x="349400" y="1133250"/>
            <a:ext cx="8363700" cy="370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This is to create instances for the specific hardware components first, then the laptops themselves. Following are the component individuals that are created with the details of the data properties assigned:</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Intel_Core_i5_1135G7 (Class: </a:t>
            </a:r>
            <a:r>
              <a:rPr lang="en" sz="1300">
                <a:solidFill>
                  <a:schemeClr val="dk1"/>
                </a:solidFill>
                <a:latin typeface="Comfortaa Medium"/>
                <a:ea typeface="Comfortaa Medium"/>
                <a:cs typeface="Comfortaa Medium"/>
                <a:sym typeface="Comfortaa Medium"/>
              </a:rPr>
              <a:t>Processor</a:t>
            </a:r>
            <a:r>
              <a:rPr lang="en" sz="1300">
                <a:solidFill>
                  <a:schemeClr val="dk1"/>
                </a:solidFill>
                <a:latin typeface="Comfortaa Medium"/>
                <a:ea typeface="Comfortaa Medium"/>
                <a:cs typeface="Comfortaa Medium"/>
                <a:sym typeface="Comfortaa Medium"/>
              </a:rPr>
              <a:t>)</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processorName: Intel Core i5-1135G7</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a:t>
            </a:r>
            <a:r>
              <a:rPr lang="en" sz="1300">
                <a:solidFill>
                  <a:schemeClr val="dk1"/>
                </a:solidFill>
                <a:latin typeface="Comfortaa Medium"/>
                <a:ea typeface="Comfortaa Medium"/>
                <a:cs typeface="Comfortaa Medium"/>
                <a:sym typeface="Comfortaa Medium"/>
              </a:rPr>
              <a:t>: Apple_M2_Chip (Class: Processor)</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processorName: Apple M2 (8-core CPU)</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Dell_RAM_16GB (Class: Memory)</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ramSizeGB: 16</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115" name="Google Shape;115;p22"/>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Individuals (The Laptops) [1/5]</a:t>
            </a:r>
            <a:endParaRPr b="1" sz="2900">
              <a:solidFill>
                <a:schemeClr val="dk2"/>
              </a:solidFill>
              <a:latin typeface="Comfortaa"/>
              <a:ea typeface="Comfortaa"/>
              <a:cs typeface="Comfortaa"/>
              <a:sym typeface="Comfortaa"/>
            </a:endParaRPr>
          </a:p>
        </p:txBody>
      </p:sp>
      <p:sp>
        <p:nvSpPr>
          <p:cNvPr id="116" name="Google Shape;11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nvSpPr>
        <p:spPr>
          <a:xfrm>
            <a:off x="349400" y="1229150"/>
            <a:ext cx="8363700" cy="37038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Apple_Unified_Memory_16GB (Class: Memory)</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ramSizeGB: 16</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a:t>
            </a:r>
            <a:r>
              <a:rPr lang="en" sz="1300">
                <a:solidFill>
                  <a:schemeClr val="dk1"/>
                </a:solidFill>
                <a:latin typeface="Comfortaa Medium"/>
                <a:ea typeface="Comfortaa Medium"/>
                <a:cs typeface="Comfortaa Medium"/>
                <a:sym typeface="Comfortaa Medium"/>
              </a:rPr>
              <a:t>: </a:t>
            </a:r>
            <a:r>
              <a:rPr lang="en" sz="1300">
                <a:solidFill>
                  <a:schemeClr val="dk1"/>
                </a:solidFill>
                <a:latin typeface="Comfortaa Medium"/>
                <a:ea typeface="Comfortaa Medium"/>
                <a:cs typeface="Comfortaa Medium"/>
                <a:sym typeface="Comfortaa Medium"/>
              </a:rPr>
              <a:t>Dell_Screen_15.6 (Class: Display)</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screenSizeInches: 15.6</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Mac_Liquid_Retina_13.6 (Class: Display)</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screenSizeInches: 13.6</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Windows_11_Pro (Class: OperatingSystem)</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osName: Windows 11 Pro</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122" name="Google Shape;122;p23"/>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Individuals (The Laptops) [2/5]</a:t>
            </a:r>
            <a:endParaRPr b="1" sz="2900">
              <a:solidFill>
                <a:schemeClr val="dk2"/>
              </a:solidFill>
              <a:latin typeface="Comfortaa"/>
              <a:ea typeface="Comfortaa"/>
              <a:cs typeface="Comfortaa"/>
              <a:sym typeface="Comfortaa"/>
            </a:endParaRPr>
          </a:p>
        </p:txBody>
      </p:sp>
      <p:sp>
        <p:nvSpPr>
          <p:cNvPr id="123" name="Google Shape;12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nvSpPr>
        <p:spPr>
          <a:xfrm>
            <a:off x="349400" y="1229150"/>
            <a:ext cx="8363700" cy="37038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Instance: macOS_Monterey (Class: OperatingSystem)</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osName: macOS Monterey</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
        <p:nvSpPr>
          <p:cNvPr id="129" name="Google Shape;129;p24"/>
          <p:cNvSpPr txBox="1"/>
          <p:nvPr/>
        </p:nvSpPr>
        <p:spPr>
          <a:xfrm>
            <a:off x="371900" y="35232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Individuals (The Laptops) [3/5]</a:t>
            </a:r>
            <a:endParaRPr b="1" sz="2900">
              <a:solidFill>
                <a:schemeClr val="dk2"/>
              </a:solidFill>
              <a:latin typeface="Comfortaa"/>
              <a:ea typeface="Comfortaa"/>
              <a:cs typeface="Comfortaa"/>
              <a:sym typeface="Comfortaa"/>
            </a:endParaRPr>
          </a:p>
        </p:txBody>
      </p:sp>
      <p:sp>
        <p:nvSpPr>
          <p:cNvPr id="130" name="Google Shape;13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nvSpPr>
        <p:spPr>
          <a:xfrm>
            <a:off x="349400" y="807600"/>
            <a:ext cx="8318700" cy="370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300">
                <a:solidFill>
                  <a:schemeClr val="dk1"/>
                </a:solidFill>
                <a:latin typeface="Comfortaa Medium"/>
                <a:ea typeface="Comfortaa Medium"/>
                <a:cs typeface="Comfortaa Medium"/>
                <a:sym typeface="Comfortaa Medium"/>
              </a:rPr>
              <a:t>Next, Laptop Individuals are created. Main Laptop instances are created first, and then linked to the components using object properties. Below are the details of Dell Inspiron 15 3000</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Individual: Dell_Inspiron_15_3000</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Class: Laptop</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Data Property Assertions: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modelName: Dell Inspiron 15 3000</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Object Property Assertions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hasProcessor -&gt; Intel_Core_i5_1135G7</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hasMemory -&gt; Dell_RAM_16GB</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100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hasDisplay -&gt; Dell_Screen_15.6</a:t>
            </a:r>
            <a:endParaRPr sz="1300">
              <a:solidFill>
                <a:schemeClr val="dk1"/>
              </a:solidFill>
              <a:latin typeface="Comfortaa Medium"/>
              <a:ea typeface="Comfortaa Medium"/>
              <a:cs typeface="Comfortaa Medium"/>
              <a:sym typeface="Comfortaa Medium"/>
            </a:endParaRPr>
          </a:p>
        </p:txBody>
      </p:sp>
      <p:sp>
        <p:nvSpPr>
          <p:cNvPr id="136" name="Google Shape;136;p25"/>
          <p:cNvSpPr txBox="1"/>
          <p:nvPr/>
        </p:nvSpPr>
        <p:spPr>
          <a:xfrm>
            <a:off x="349400" y="17247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Individuals (The Laptops) [4/5]</a:t>
            </a:r>
            <a:endParaRPr b="1" sz="2900">
              <a:solidFill>
                <a:schemeClr val="dk2"/>
              </a:solidFill>
              <a:latin typeface="Comfortaa"/>
              <a:ea typeface="Comfortaa"/>
              <a:cs typeface="Comfortaa"/>
              <a:sym typeface="Comfortaa"/>
            </a:endParaRPr>
          </a:p>
        </p:txBody>
      </p:sp>
      <p:sp>
        <p:nvSpPr>
          <p:cNvPr id="137" name="Google Shape;13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nvSpPr>
        <p:spPr>
          <a:xfrm>
            <a:off x="4140375" y="3194025"/>
            <a:ext cx="4034700" cy="2254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hasOS -&gt; Windows_11_Pro</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nvSpPr>
        <p:spPr>
          <a:xfrm>
            <a:off x="303900" y="599850"/>
            <a:ext cx="8363700" cy="39438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100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Individual: </a:t>
            </a:r>
            <a:r>
              <a:rPr lang="en" sz="1300">
                <a:solidFill>
                  <a:schemeClr val="dk1"/>
                </a:solidFill>
                <a:latin typeface="Comfortaa Medium"/>
                <a:ea typeface="Comfortaa Medium"/>
                <a:cs typeface="Comfortaa Medium"/>
                <a:sym typeface="Comfortaa Medium"/>
              </a:rPr>
              <a:t>Dell Inspiron 15 3000</a:t>
            </a:r>
            <a:endParaRPr/>
          </a:p>
        </p:txBody>
      </p:sp>
      <p:sp>
        <p:nvSpPr>
          <p:cNvPr id="144" name="Google Shape;144;p26"/>
          <p:cNvSpPr txBox="1"/>
          <p:nvPr/>
        </p:nvSpPr>
        <p:spPr>
          <a:xfrm>
            <a:off x="152000" y="284600"/>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900">
              <a:solidFill>
                <a:schemeClr val="dk2"/>
              </a:solidFill>
              <a:latin typeface="Comfortaa Medium"/>
              <a:ea typeface="Comfortaa Medium"/>
              <a:cs typeface="Comfortaa Medium"/>
              <a:sym typeface="Comfortaa Medium"/>
            </a:endParaRPr>
          </a:p>
        </p:txBody>
      </p:sp>
      <p:sp>
        <p:nvSpPr>
          <p:cNvPr id="145" name="Google Shape;14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6" name="Google Shape;146;p26"/>
          <p:cNvPicPr preferRelativeResize="0"/>
          <p:nvPr/>
        </p:nvPicPr>
        <p:blipFill rotWithShape="1">
          <a:blip r:embed="rId3">
            <a:alphaModFix/>
          </a:blip>
          <a:srcRect b="2368" l="39406" r="1345" t="41386"/>
          <a:stretch/>
        </p:blipFill>
        <p:spPr>
          <a:xfrm>
            <a:off x="886350" y="1309050"/>
            <a:ext cx="6275424" cy="2372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nvSpPr>
        <p:spPr>
          <a:xfrm>
            <a:off x="349400" y="897525"/>
            <a:ext cx="8318700" cy="3703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solidFill>
                  <a:schemeClr val="dk1"/>
                </a:solidFill>
                <a:latin typeface="Comfortaa Medium"/>
                <a:ea typeface="Comfortaa Medium"/>
                <a:cs typeface="Comfortaa Medium"/>
                <a:sym typeface="Comfortaa Medium"/>
              </a:rPr>
              <a:t>Below are the details of </a:t>
            </a:r>
            <a:r>
              <a:rPr lang="en" sz="1300">
                <a:solidFill>
                  <a:schemeClr val="dk1"/>
                </a:solidFill>
                <a:latin typeface="Comfortaa Medium"/>
                <a:ea typeface="Comfortaa Medium"/>
                <a:cs typeface="Comfortaa Medium"/>
                <a:sym typeface="Comfortaa Medium"/>
              </a:rPr>
              <a:t>MacBook Air M2</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Individual: </a:t>
            </a:r>
            <a:r>
              <a:rPr lang="en" sz="1300">
                <a:solidFill>
                  <a:schemeClr val="dk1"/>
                </a:solidFill>
                <a:latin typeface="Comfortaa Medium"/>
                <a:ea typeface="Comfortaa Medium"/>
                <a:cs typeface="Comfortaa Medium"/>
                <a:sym typeface="Comfortaa Medium"/>
              </a:rPr>
              <a:t>MacBook_Air_M2</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Class: Laptop</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Data Property Assertions: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modelName: </a:t>
            </a:r>
            <a:r>
              <a:rPr lang="en" sz="1300">
                <a:solidFill>
                  <a:schemeClr val="dk1"/>
                </a:solidFill>
                <a:latin typeface="Comfortaa Medium"/>
                <a:ea typeface="Comfortaa Medium"/>
                <a:cs typeface="Comfortaa Medium"/>
                <a:sym typeface="Comfortaa Medium"/>
              </a:rPr>
              <a:t>MacBook Air M2</a:t>
            </a:r>
            <a:endParaRPr sz="1300">
              <a:solidFill>
                <a:schemeClr val="dk1"/>
              </a:solidFill>
              <a:latin typeface="Comfortaa Medium"/>
              <a:ea typeface="Comfortaa Medium"/>
              <a:cs typeface="Comfortaa Medium"/>
              <a:sym typeface="Comfortaa Medium"/>
            </a:endParaRPr>
          </a:p>
          <a:p>
            <a:pPr indent="-311150" lvl="1" marL="9144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Object Property Assertions</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hasProcessor -&gt; </a:t>
            </a:r>
            <a:r>
              <a:rPr lang="en" sz="1300">
                <a:solidFill>
                  <a:schemeClr val="dk1"/>
                </a:solidFill>
                <a:latin typeface="Comfortaa Medium"/>
                <a:ea typeface="Comfortaa Medium"/>
                <a:cs typeface="Comfortaa Medium"/>
                <a:sym typeface="Comfortaa Medium"/>
              </a:rPr>
              <a:t>Apple_M2_Chip</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hasMemory -&gt; </a:t>
            </a:r>
            <a:r>
              <a:rPr lang="en" sz="1300">
                <a:solidFill>
                  <a:schemeClr val="dk1"/>
                </a:solidFill>
                <a:latin typeface="Comfortaa Medium"/>
                <a:ea typeface="Comfortaa Medium"/>
                <a:cs typeface="Comfortaa Medium"/>
                <a:sym typeface="Comfortaa Medium"/>
              </a:rPr>
              <a:t>Apple_Unified_Memory_16GB</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100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hasDisplay -&gt; </a:t>
            </a:r>
            <a:r>
              <a:rPr lang="en" sz="1300">
                <a:solidFill>
                  <a:schemeClr val="dk1"/>
                </a:solidFill>
                <a:latin typeface="Comfortaa Medium"/>
                <a:ea typeface="Comfortaa Medium"/>
                <a:cs typeface="Comfortaa Medium"/>
                <a:sym typeface="Comfortaa Medium"/>
              </a:rPr>
              <a:t>Mac_Liquid_Retina_13.6</a:t>
            </a:r>
            <a:endParaRPr sz="1300">
              <a:solidFill>
                <a:schemeClr val="dk1"/>
              </a:solidFill>
              <a:latin typeface="Comfortaa Medium"/>
              <a:ea typeface="Comfortaa Medium"/>
              <a:cs typeface="Comfortaa Medium"/>
              <a:sym typeface="Comfortaa Medium"/>
            </a:endParaRPr>
          </a:p>
        </p:txBody>
      </p:sp>
      <p:sp>
        <p:nvSpPr>
          <p:cNvPr id="152" name="Google Shape;152;p27"/>
          <p:cNvSpPr txBox="1"/>
          <p:nvPr/>
        </p:nvSpPr>
        <p:spPr>
          <a:xfrm>
            <a:off x="349400" y="172475"/>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900">
                <a:solidFill>
                  <a:schemeClr val="dk2"/>
                </a:solidFill>
                <a:latin typeface="Comfortaa"/>
                <a:ea typeface="Comfortaa"/>
                <a:cs typeface="Comfortaa"/>
                <a:sym typeface="Comfortaa"/>
              </a:rPr>
              <a:t>Entities: Individuals (The Laptops) [5/5]</a:t>
            </a:r>
            <a:endParaRPr b="1" sz="2900">
              <a:solidFill>
                <a:schemeClr val="dk2"/>
              </a:solidFill>
              <a:latin typeface="Comfortaa"/>
              <a:ea typeface="Comfortaa"/>
              <a:cs typeface="Comfortaa"/>
              <a:sym typeface="Comfortaa"/>
            </a:endParaRPr>
          </a:p>
        </p:txBody>
      </p:sp>
      <p:sp>
        <p:nvSpPr>
          <p:cNvPr id="153" name="Google Shape;15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7"/>
          <p:cNvSpPr txBox="1"/>
          <p:nvPr/>
        </p:nvSpPr>
        <p:spPr>
          <a:xfrm>
            <a:off x="4572000" y="2889000"/>
            <a:ext cx="4034700" cy="2254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300">
              <a:solidFill>
                <a:schemeClr val="dk1"/>
              </a:solidFill>
              <a:latin typeface="Comfortaa Medium"/>
              <a:ea typeface="Comfortaa Medium"/>
              <a:cs typeface="Comfortaa Medium"/>
              <a:sym typeface="Comfortaa Medium"/>
            </a:endParaRPr>
          </a:p>
          <a:p>
            <a:pPr indent="-311150" lvl="2" marL="13716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hasOS -&gt; </a:t>
            </a:r>
            <a:r>
              <a:rPr lang="en" sz="1300">
                <a:solidFill>
                  <a:schemeClr val="dk1"/>
                </a:solidFill>
                <a:latin typeface="Comfortaa Medium"/>
                <a:ea typeface="Comfortaa Medium"/>
                <a:cs typeface="Comfortaa Medium"/>
                <a:sym typeface="Comfortaa Medium"/>
              </a:rPr>
              <a:t>macOS_Monterey</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45720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nvSpPr>
        <p:spPr>
          <a:xfrm>
            <a:off x="390150" y="719425"/>
            <a:ext cx="8363700" cy="39438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Individual: MacBook Air M2</a:t>
            </a:r>
            <a:endParaRPr>
              <a:solidFill>
                <a:schemeClr val="dk1"/>
              </a:solidFill>
            </a:endParaRPr>
          </a:p>
          <a:p>
            <a:pPr indent="0" lvl="0" marL="0" rtl="0" algn="just">
              <a:lnSpc>
                <a:spcPct val="150000"/>
              </a:lnSpc>
              <a:spcBef>
                <a:spcPts val="1000"/>
              </a:spcBef>
              <a:spcAft>
                <a:spcPts val="0"/>
              </a:spcAft>
              <a:buNone/>
            </a:pPr>
            <a:r>
              <a:t/>
            </a:r>
            <a:endParaRPr sz="1300">
              <a:solidFill>
                <a:schemeClr val="dk1"/>
              </a:solidFill>
              <a:latin typeface="Comfortaa Medium"/>
              <a:ea typeface="Comfortaa Medium"/>
              <a:cs typeface="Comfortaa Medium"/>
              <a:sym typeface="Comfortaa Medium"/>
            </a:endParaRPr>
          </a:p>
          <a:p>
            <a:pPr indent="0" lvl="0" marL="0" rtl="0" algn="just">
              <a:lnSpc>
                <a:spcPct val="150000"/>
              </a:lnSpc>
              <a:spcBef>
                <a:spcPts val="1000"/>
              </a:spcBef>
              <a:spcAft>
                <a:spcPts val="1000"/>
              </a:spcAft>
              <a:buNone/>
            </a:pPr>
            <a:r>
              <a:t/>
            </a:r>
            <a:endParaRPr sz="1300">
              <a:solidFill>
                <a:schemeClr val="dk1"/>
              </a:solidFill>
              <a:latin typeface="Work Sans"/>
              <a:ea typeface="Work Sans"/>
              <a:cs typeface="Work Sans"/>
              <a:sym typeface="Work Sans"/>
            </a:endParaRPr>
          </a:p>
        </p:txBody>
      </p:sp>
      <p:sp>
        <p:nvSpPr>
          <p:cNvPr id="160" name="Google Shape;16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1" name="Google Shape;161;p28"/>
          <p:cNvPicPr preferRelativeResize="0"/>
          <p:nvPr/>
        </p:nvPicPr>
        <p:blipFill rotWithShape="1">
          <a:blip r:embed="rId3">
            <a:alphaModFix/>
          </a:blip>
          <a:srcRect b="0" l="39759" r="2693" t="50000"/>
          <a:stretch/>
        </p:blipFill>
        <p:spPr>
          <a:xfrm>
            <a:off x="1166725" y="1428750"/>
            <a:ext cx="6214673" cy="2123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nvSpPr>
        <p:spPr>
          <a:xfrm>
            <a:off x="390150" y="1010038"/>
            <a:ext cx="8363700" cy="1598700"/>
          </a:xfrm>
          <a:prstGeom prst="rect">
            <a:avLst/>
          </a:prstGeom>
          <a:noFill/>
          <a:ln>
            <a:noFill/>
          </a:ln>
        </p:spPr>
        <p:txBody>
          <a:bodyPr anchorCtr="0" anchor="t" bIns="91425" lIns="91425" spcFirstLastPara="1" rIns="91425" wrap="square" tIns="91425">
            <a:noAutofit/>
          </a:bodyPr>
          <a:lstStyle/>
          <a:p>
            <a:pPr indent="-311150" lvl="0" marL="457200" rtl="0" algn="just">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Reasoner (HermiT (selected </a:t>
            </a:r>
            <a:r>
              <a:rPr lang="en" sz="1300">
                <a:solidFill>
                  <a:schemeClr val="dk1"/>
                </a:solidFill>
                <a:latin typeface="Comfortaa Medium"/>
                <a:ea typeface="Comfortaa Medium"/>
                <a:cs typeface="Comfortaa Medium"/>
                <a:sym typeface="Comfortaa Medium"/>
              </a:rPr>
              <a:t>by default</a:t>
            </a:r>
            <a:r>
              <a:rPr lang="en" sz="1300">
                <a:solidFill>
                  <a:schemeClr val="dk1"/>
                </a:solidFill>
                <a:latin typeface="Comfortaa Medium"/>
                <a:ea typeface="Comfortaa Medium"/>
                <a:cs typeface="Comfortaa Medium"/>
                <a:sym typeface="Comfortaa Medium"/>
              </a:rPr>
              <a:t>))</a:t>
            </a:r>
            <a:endParaRPr sz="1300">
              <a:solidFill>
                <a:schemeClr val="dk1"/>
              </a:solidFill>
              <a:latin typeface="Comfortaa Medium"/>
              <a:ea typeface="Comfortaa Medium"/>
              <a:cs typeface="Comfortaa Medium"/>
              <a:sym typeface="Comfortaa Medium"/>
            </a:endParaRPr>
          </a:p>
          <a:p>
            <a:pPr indent="-311150" lvl="1" marL="914400" rtl="0" algn="just">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Start Reasoner: This starts verifying the individuals with respect to their relationships and data properties. In case of any error, the reasoner presents an option ‘Explain’, where the inconsistencies with constraints or logic definition are pointed.</a:t>
            </a:r>
            <a:endParaRPr sz="1300">
              <a:solidFill>
                <a:schemeClr val="dk1"/>
              </a:solidFill>
              <a:latin typeface="Comfortaa Medium"/>
              <a:ea typeface="Comfortaa Medium"/>
              <a:cs typeface="Comfortaa Medium"/>
              <a:sym typeface="Comfortaa Medium"/>
            </a:endParaRPr>
          </a:p>
          <a:p>
            <a:pPr indent="0" lvl="0" marL="0" rtl="0" algn="just">
              <a:lnSpc>
                <a:spcPct val="150000"/>
              </a:lnSpc>
              <a:spcBef>
                <a:spcPts val="1000"/>
              </a:spcBef>
              <a:spcAft>
                <a:spcPts val="1000"/>
              </a:spcAft>
              <a:buNone/>
            </a:pPr>
            <a:r>
              <a:t/>
            </a:r>
            <a:endParaRPr sz="1300">
              <a:solidFill>
                <a:schemeClr val="dk1"/>
              </a:solidFill>
              <a:latin typeface="Work Sans"/>
              <a:ea typeface="Work Sans"/>
              <a:cs typeface="Work Sans"/>
              <a:sym typeface="Work Sans"/>
            </a:endParaRPr>
          </a:p>
        </p:txBody>
      </p:sp>
      <p:sp>
        <p:nvSpPr>
          <p:cNvPr id="167" name="Google Shape;167;p29"/>
          <p:cNvSpPr txBox="1"/>
          <p:nvPr/>
        </p:nvSpPr>
        <p:spPr>
          <a:xfrm>
            <a:off x="152000" y="317200"/>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Comfortaa Medium"/>
                <a:ea typeface="Comfortaa Medium"/>
                <a:cs typeface="Comfortaa Medium"/>
                <a:sym typeface="Comfortaa Medium"/>
              </a:rPr>
              <a:t>HermiT Reasoner</a:t>
            </a:r>
            <a:endParaRPr sz="2900">
              <a:solidFill>
                <a:schemeClr val="dk2"/>
              </a:solidFill>
              <a:latin typeface="Comfortaa Medium"/>
              <a:ea typeface="Comfortaa Medium"/>
              <a:cs typeface="Comfortaa Medium"/>
              <a:sym typeface="Comfortaa Medium"/>
            </a:endParaRPr>
          </a:p>
        </p:txBody>
      </p:sp>
      <p:sp>
        <p:nvSpPr>
          <p:cNvPr id="168" name="Google Shape;16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nvSpPr>
        <p:spPr>
          <a:xfrm>
            <a:off x="390150" y="1010038"/>
            <a:ext cx="8363700" cy="1598700"/>
          </a:xfrm>
          <a:prstGeom prst="rect">
            <a:avLst/>
          </a:prstGeom>
          <a:noFill/>
          <a:ln>
            <a:noFill/>
          </a:ln>
        </p:spPr>
        <p:txBody>
          <a:bodyPr anchorCtr="0" anchor="t" bIns="91425" lIns="91425" spcFirstLastPara="1" rIns="91425" wrap="square" tIns="91425">
            <a:noAutofit/>
          </a:bodyPr>
          <a:lstStyle/>
          <a:p>
            <a:pPr indent="-311150" lvl="0" marL="457200" rtl="0" algn="just">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Example queries and results</a:t>
            </a:r>
            <a:endParaRPr sz="1300">
              <a:solidFill>
                <a:schemeClr val="dk1"/>
              </a:solidFill>
              <a:latin typeface="Comfortaa Medium"/>
              <a:ea typeface="Comfortaa Medium"/>
              <a:cs typeface="Comfortaa Medium"/>
              <a:sym typeface="Comfortaa Medium"/>
            </a:endParaRPr>
          </a:p>
          <a:p>
            <a:pPr indent="0" lvl="0" marL="0" rtl="0" algn="just">
              <a:lnSpc>
                <a:spcPct val="150000"/>
              </a:lnSpc>
              <a:spcBef>
                <a:spcPts val="1000"/>
              </a:spcBef>
              <a:spcAft>
                <a:spcPts val="1000"/>
              </a:spcAft>
              <a:buNone/>
            </a:pPr>
            <a:r>
              <a:t/>
            </a:r>
            <a:endParaRPr sz="1300">
              <a:solidFill>
                <a:schemeClr val="dk1"/>
              </a:solidFill>
              <a:latin typeface="Work Sans"/>
              <a:ea typeface="Work Sans"/>
              <a:cs typeface="Work Sans"/>
              <a:sym typeface="Work Sans"/>
            </a:endParaRPr>
          </a:p>
        </p:txBody>
      </p:sp>
      <p:sp>
        <p:nvSpPr>
          <p:cNvPr id="174" name="Google Shape;174;p30"/>
          <p:cNvSpPr txBox="1"/>
          <p:nvPr/>
        </p:nvSpPr>
        <p:spPr>
          <a:xfrm>
            <a:off x="152000" y="317200"/>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Comfortaa Medium"/>
                <a:ea typeface="Comfortaa Medium"/>
                <a:cs typeface="Comfortaa Medium"/>
                <a:sym typeface="Comfortaa Medium"/>
              </a:rPr>
              <a:t>DL queries</a:t>
            </a:r>
            <a:endParaRPr sz="2900">
              <a:solidFill>
                <a:schemeClr val="dk2"/>
              </a:solidFill>
              <a:latin typeface="Comfortaa Medium"/>
              <a:ea typeface="Comfortaa Medium"/>
              <a:cs typeface="Comfortaa Medium"/>
              <a:sym typeface="Comfortaa Medium"/>
            </a:endParaRPr>
          </a:p>
        </p:txBody>
      </p:sp>
      <p:sp>
        <p:nvSpPr>
          <p:cNvPr id="175" name="Google Shape;17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76" name="Google Shape;176;p30" title="Screenshot 2026-05-08 191142.png"/>
          <p:cNvPicPr preferRelativeResize="0"/>
          <p:nvPr/>
        </p:nvPicPr>
        <p:blipFill rotWithShape="1">
          <a:blip r:embed="rId3">
            <a:alphaModFix/>
          </a:blip>
          <a:srcRect b="0" l="0" r="69356" t="0"/>
          <a:stretch/>
        </p:blipFill>
        <p:spPr>
          <a:xfrm>
            <a:off x="76900" y="1391700"/>
            <a:ext cx="2038724" cy="2229950"/>
          </a:xfrm>
          <a:prstGeom prst="rect">
            <a:avLst/>
          </a:prstGeom>
          <a:noFill/>
          <a:ln>
            <a:noFill/>
          </a:ln>
        </p:spPr>
      </p:pic>
      <p:pic>
        <p:nvPicPr>
          <p:cNvPr id="177" name="Google Shape;177;p30" title="Screenshot 2026-05-08 191254.png"/>
          <p:cNvPicPr preferRelativeResize="0"/>
          <p:nvPr/>
        </p:nvPicPr>
        <p:blipFill>
          <a:blip r:embed="rId4">
            <a:alphaModFix/>
          </a:blip>
          <a:stretch>
            <a:fillRect/>
          </a:stretch>
        </p:blipFill>
        <p:spPr>
          <a:xfrm>
            <a:off x="4521674" y="2818288"/>
            <a:ext cx="2095628" cy="2229963"/>
          </a:xfrm>
          <a:prstGeom prst="rect">
            <a:avLst/>
          </a:prstGeom>
          <a:noFill/>
          <a:ln>
            <a:noFill/>
          </a:ln>
        </p:spPr>
      </p:pic>
      <p:pic>
        <p:nvPicPr>
          <p:cNvPr id="178" name="Google Shape;178;p30" title="Screenshot 2026-05-08 191336.png"/>
          <p:cNvPicPr preferRelativeResize="0"/>
          <p:nvPr/>
        </p:nvPicPr>
        <p:blipFill>
          <a:blip r:embed="rId5">
            <a:alphaModFix/>
          </a:blip>
          <a:stretch>
            <a:fillRect/>
          </a:stretch>
        </p:blipFill>
        <p:spPr>
          <a:xfrm>
            <a:off x="4185977" y="575788"/>
            <a:ext cx="1952757" cy="2229963"/>
          </a:xfrm>
          <a:prstGeom prst="rect">
            <a:avLst/>
          </a:prstGeom>
          <a:noFill/>
          <a:ln>
            <a:noFill/>
          </a:ln>
        </p:spPr>
      </p:pic>
      <p:pic>
        <p:nvPicPr>
          <p:cNvPr id="179" name="Google Shape;179;p30" title="Screenshot 2026-05-08 191416.png"/>
          <p:cNvPicPr preferRelativeResize="0"/>
          <p:nvPr/>
        </p:nvPicPr>
        <p:blipFill>
          <a:blip r:embed="rId6">
            <a:alphaModFix/>
          </a:blip>
          <a:stretch>
            <a:fillRect/>
          </a:stretch>
        </p:blipFill>
        <p:spPr>
          <a:xfrm>
            <a:off x="2021950" y="2384925"/>
            <a:ext cx="2244650" cy="2385475"/>
          </a:xfrm>
          <a:prstGeom prst="rect">
            <a:avLst/>
          </a:prstGeom>
          <a:noFill/>
          <a:ln>
            <a:noFill/>
          </a:ln>
        </p:spPr>
      </p:pic>
      <p:pic>
        <p:nvPicPr>
          <p:cNvPr id="180" name="Google Shape;180;p30" title="Screenshot 2026-05-08 191457.png"/>
          <p:cNvPicPr preferRelativeResize="0"/>
          <p:nvPr/>
        </p:nvPicPr>
        <p:blipFill>
          <a:blip r:embed="rId7">
            <a:alphaModFix/>
          </a:blip>
          <a:stretch>
            <a:fillRect/>
          </a:stretch>
        </p:blipFill>
        <p:spPr>
          <a:xfrm>
            <a:off x="6189463" y="468000"/>
            <a:ext cx="2784175" cy="2229950"/>
          </a:xfrm>
          <a:prstGeom prst="rect">
            <a:avLst/>
          </a:prstGeom>
          <a:noFill/>
          <a:ln>
            <a:noFill/>
          </a:ln>
        </p:spPr>
      </p:pic>
      <p:pic>
        <p:nvPicPr>
          <p:cNvPr id="181" name="Google Shape;181;p30" title="Screenshot 2026-05-08 191541.png"/>
          <p:cNvPicPr preferRelativeResize="0"/>
          <p:nvPr/>
        </p:nvPicPr>
        <p:blipFill>
          <a:blip r:embed="rId8">
            <a:alphaModFix/>
          </a:blip>
          <a:stretch>
            <a:fillRect/>
          </a:stretch>
        </p:blipFill>
        <p:spPr>
          <a:xfrm>
            <a:off x="6719975" y="2805750"/>
            <a:ext cx="2163925" cy="1964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1"/>
          <p:cNvSpPr txBox="1"/>
          <p:nvPr/>
        </p:nvSpPr>
        <p:spPr>
          <a:xfrm>
            <a:off x="152000" y="317200"/>
            <a:ext cx="8318700" cy="4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2"/>
                </a:solidFill>
                <a:latin typeface="Comfortaa Medium"/>
                <a:ea typeface="Comfortaa Medium"/>
                <a:cs typeface="Comfortaa Medium"/>
                <a:sym typeface="Comfortaa Medium"/>
              </a:rPr>
              <a:t>Notes</a:t>
            </a:r>
            <a:endParaRPr sz="2900">
              <a:solidFill>
                <a:schemeClr val="dk2"/>
              </a:solidFill>
              <a:latin typeface="Comfortaa Medium"/>
              <a:ea typeface="Comfortaa Medium"/>
              <a:cs typeface="Comfortaa Medium"/>
              <a:sym typeface="Comfortaa Medium"/>
            </a:endParaRPr>
          </a:p>
        </p:txBody>
      </p:sp>
      <p:sp>
        <p:nvSpPr>
          <p:cNvPr id="187" name="Google Shape;18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31"/>
          <p:cNvSpPr txBox="1"/>
          <p:nvPr/>
        </p:nvSpPr>
        <p:spPr>
          <a:xfrm>
            <a:off x="313400" y="879963"/>
            <a:ext cx="8318700" cy="37038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This experiment is conducted on simple ontology for laptops.</a:t>
            </a:r>
            <a:endParaRPr sz="1300">
              <a:solidFill>
                <a:schemeClr val="dk1"/>
              </a:solidFill>
              <a:latin typeface="Comfortaa Medium"/>
              <a:ea typeface="Comfortaa Medium"/>
              <a:cs typeface="Comfortaa Medium"/>
              <a:sym typeface="Comfortaa Medium"/>
            </a:endParaRPr>
          </a:p>
          <a:p>
            <a:pPr indent="-311150" lvl="0" marL="457200" rtl="0" algn="l">
              <a:lnSpc>
                <a:spcPct val="150000"/>
              </a:lnSpc>
              <a:spcBef>
                <a:spcPts val="1000"/>
              </a:spcBef>
              <a:spcAft>
                <a:spcPts val="0"/>
              </a:spcAft>
              <a:buClr>
                <a:schemeClr val="dk1"/>
              </a:buClr>
              <a:buSzPts val="1300"/>
              <a:buFont typeface="Comfortaa Medium"/>
              <a:buChar char="●"/>
            </a:pPr>
            <a:r>
              <a:rPr lang="en" sz="1300">
                <a:solidFill>
                  <a:schemeClr val="dk1"/>
                </a:solidFill>
                <a:latin typeface="Comfortaa Medium"/>
                <a:ea typeface="Comfortaa Medium"/>
                <a:cs typeface="Comfortaa Medium"/>
                <a:sym typeface="Comfortaa Medium"/>
              </a:rPr>
              <a:t>In </a:t>
            </a:r>
            <a:r>
              <a:rPr lang="en" sz="1300">
                <a:solidFill>
                  <a:schemeClr val="dk1"/>
                </a:solidFill>
                <a:latin typeface="Comfortaa Medium"/>
                <a:ea typeface="Comfortaa Medium"/>
                <a:cs typeface="Comfortaa Medium"/>
                <a:sym typeface="Comfortaa Medium"/>
              </a:rPr>
              <a:t>future,</a:t>
            </a:r>
            <a:r>
              <a:rPr lang="en" sz="1300">
                <a:solidFill>
                  <a:schemeClr val="dk1"/>
                </a:solidFill>
                <a:latin typeface="Comfortaa Medium"/>
                <a:ea typeface="Comfortaa Medium"/>
                <a:cs typeface="Comfortaa Medium"/>
                <a:sym typeface="Comfortaa Medium"/>
              </a:rPr>
              <a:t> the ontology will be expanded with other specifications. Further, constraints and logics to be validated by the Reasoner.</a:t>
            </a:r>
            <a:endParaRPr sz="1300">
              <a:solidFill>
                <a:schemeClr val="dk1"/>
              </a:solidFill>
              <a:latin typeface="Comfortaa Medium"/>
              <a:ea typeface="Comfortaa Medium"/>
              <a:cs typeface="Comfortaa Medium"/>
              <a:sym typeface="Comfortaa Medium"/>
            </a:endParaRPr>
          </a:p>
          <a:p>
            <a:pPr indent="0" lvl="0" marL="0" rtl="0" algn="l">
              <a:lnSpc>
                <a:spcPct val="150000"/>
              </a:lnSpc>
              <a:spcBef>
                <a:spcPts val="1000"/>
              </a:spcBef>
              <a:spcAft>
                <a:spcPts val="1000"/>
              </a:spcAft>
              <a:buNone/>
            </a:pPr>
            <a:r>
              <a:t/>
            </a:r>
            <a:endParaRPr sz="1300">
              <a:solidFill>
                <a:schemeClr val="dk1"/>
              </a:solidFill>
              <a:latin typeface="Comfortaa Medium"/>
              <a:ea typeface="Comfortaa Medium"/>
              <a:cs typeface="Comfortaa Medium"/>
              <a:sym typeface="Comfortaa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nvSpPr>
        <p:spPr>
          <a:xfrm>
            <a:off x="282500" y="2252975"/>
            <a:ext cx="8318700" cy="48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chemeClr val="dk2"/>
                </a:solidFill>
              </a:rPr>
              <a:t>Thank You</a:t>
            </a:r>
            <a:endParaRPr b="1" sz="2900">
              <a:solidFill>
                <a:schemeClr val="dk2"/>
              </a:solidFill>
            </a:endParaRPr>
          </a:p>
        </p:txBody>
      </p:sp>
      <p:sp>
        <p:nvSpPr>
          <p:cNvPr id="194" name="Google Shape;19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